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3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6C6B4A-CEED-46C6-87F9-4C66A1D3640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091827-4DA7-450A-AE04-E99343C0ABC4}">
      <dgm:prSet/>
      <dgm:spPr/>
      <dgm:t>
        <a:bodyPr/>
        <a:lstStyle/>
        <a:p>
          <a:r>
            <a:rPr lang="en-US"/>
            <a:t>Conceito de fração.</a:t>
          </a:r>
        </a:p>
      </dgm:t>
    </dgm:pt>
    <dgm:pt modelId="{B4056653-177A-412B-A84D-3C6AEF21A523}" type="parTrans" cxnId="{9B5F1DAE-0CB1-4434-94BD-A9A3F9187FD5}">
      <dgm:prSet/>
      <dgm:spPr/>
      <dgm:t>
        <a:bodyPr/>
        <a:lstStyle/>
        <a:p>
          <a:endParaRPr lang="en-US"/>
        </a:p>
      </dgm:t>
    </dgm:pt>
    <dgm:pt modelId="{8B17AD35-0B33-45A6-9724-D5C44A56FF9D}" type="sibTrans" cxnId="{9B5F1DAE-0CB1-4434-94BD-A9A3F9187FD5}">
      <dgm:prSet/>
      <dgm:spPr/>
      <dgm:t>
        <a:bodyPr/>
        <a:lstStyle/>
        <a:p>
          <a:endParaRPr lang="en-US"/>
        </a:p>
      </dgm:t>
    </dgm:pt>
    <dgm:pt modelId="{6FD2D959-FA29-4B5C-A403-59AC3B5D738D}">
      <dgm:prSet/>
      <dgm:spPr/>
      <dgm:t>
        <a:bodyPr/>
        <a:lstStyle/>
        <a:p>
          <a:r>
            <a:rPr lang="en-US"/>
            <a:t>Numerador e denominador.</a:t>
          </a:r>
        </a:p>
      </dgm:t>
    </dgm:pt>
    <dgm:pt modelId="{D1B1E11A-7A62-4ADB-AF0B-BCE2E906A29A}" type="parTrans" cxnId="{C16C2D3A-EACD-4790-9D03-47141971B9D9}">
      <dgm:prSet/>
      <dgm:spPr/>
      <dgm:t>
        <a:bodyPr/>
        <a:lstStyle/>
        <a:p>
          <a:endParaRPr lang="en-US"/>
        </a:p>
      </dgm:t>
    </dgm:pt>
    <dgm:pt modelId="{2334FBCC-A948-4E9B-9D6B-B179E4AD3AAF}" type="sibTrans" cxnId="{C16C2D3A-EACD-4790-9D03-47141971B9D9}">
      <dgm:prSet/>
      <dgm:spPr/>
      <dgm:t>
        <a:bodyPr/>
        <a:lstStyle/>
        <a:p>
          <a:endParaRPr lang="en-US"/>
        </a:p>
      </dgm:t>
    </dgm:pt>
    <dgm:pt modelId="{C4C0762C-7FD4-4875-8BD3-69B3CE835B6D}">
      <dgm:prSet/>
      <dgm:spPr/>
      <dgm:t>
        <a:bodyPr/>
        <a:lstStyle/>
        <a:p>
          <a:r>
            <a:rPr lang="en-US"/>
            <a:t>Frações próprias.</a:t>
          </a:r>
        </a:p>
      </dgm:t>
    </dgm:pt>
    <dgm:pt modelId="{A7F297B7-A53C-432F-AA92-166E4AA9CBCC}" type="parTrans" cxnId="{DAF43B9D-DEC5-4302-B4C2-04C98F19A546}">
      <dgm:prSet/>
      <dgm:spPr/>
      <dgm:t>
        <a:bodyPr/>
        <a:lstStyle/>
        <a:p>
          <a:endParaRPr lang="en-US"/>
        </a:p>
      </dgm:t>
    </dgm:pt>
    <dgm:pt modelId="{F8880709-CB6A-470D-9109-9F6A98513A7A}" type="sibTrans" cxnId="{DAF43B9D-DEC5-4302-B4C2-04C98F19A546}">
      <dgm:prSet/>
      <dgm:spPr/>
      <dgm:t>
        <a:bodyPr/>
        <a:lstStyle/>
        <a:p>
          <a:endParaRPr lang="en-US"/>
        </a:p>
      </dgm:t>
    </dgm:pt>
    <dgm:pt modelId="{670C7374-4A32-4B73-8D4F-6EF44390EA09}">
      <dgm:prSet/>
      <dgm:spPr/>
      <dgm:t>
        <a:bodyPr/>
        <a:lstStyle/>
        <a:p>
          <a:r>
            <a:rPr lang="en-US"/>
            <a:t>Representações visuais: círculos, retângulos e barras fracionadas.</a:t>
          </a:r>
        </a:p>
      </dgm:t>
    </dgm:pt>
    <dgm:pt modelId="{56876EE2-D64B-46B1-ACAE-81BEDB5808B2}" type="parTrans" cxnId="{6E08C4A1-F70B-486B-A758-AE9A7C5ED05B}">
      <dgm:prSet/>
      <dgm:spPr/>
      <dgm:t>
        <a:bodyPr/>
        <a:lstStyle/>
        <a:p>
          <a:endParaRPr lang="en-US"/>
        </a:p>
      </dgm:t>
    </dgm:pt>
    <dgm:pt modelId="{03F37C0A-72D8-49BC-812F-07635A169014}" type="sibTrans" cxnId="{6E08C4A1-F70B-486B-A758-AE9A7C5ED05B}">
      <dgm:prSet/>
      <dgm:spPr/>
      <dgm:t>
        <a:bodyPr/>
        <a:lstStyle/>
        <a:p>
          <a:endParaRPr lang="en-US"/>
        </a:p>
      </dgm:t>
    </dgm:pt>
    <dgm:pt modelId="{0C576C14-3957-462D-8E16-0E808BB5AA3C}" type="pres">
      <dgm:prSet presAssocID="{626C6B4A-CEED-46C6-87F9-4C66A1D36409}" presName="linear" presStyleCnt="0">
        <dgm:presLayoutVars>
          <dgm:animLvl val="lvl"/>
          <dgm:resizeHandles val="exact"/>
        </dgm:presLayoutVars>
      </dgm:prSet>
      <dgm:spPr/>
    </dgm:pt>
    <dgm:pt modelId="{D2453BD4-367B-4E24-9794-1E6ED9BE3E44}" type="pres">
      <dgm:prSet presAssocID="{AB091827-4DA7-450A-AE04-E99343C0AB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80D6DE-2A00-4790-B7D1-D9D61010944E}" type="pres">
      <dgm:prSet presAssocID="{8B17AD35-0B33-45A6-9724-D5C44A56FF9D}" presName="spacer" presStyleCnt="0"/>
      <dgm:spPr/>
    </dgm:pt>
    <dgm:pt modelId="{4B19F577-5D8B-4A4F-AB1E-09EABDDCCE88}" type="pres">
      <dgm:prSet presAssocID="{6FD2D959-FA29-4B5C-A403-59AC3B5D73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A81C089-7D74-426B-8159-41F3F46367A6}" type="pres">
      <dgm:prSet presAssocID="{2334FBCC-A948-4E9B-9D6B-B179E4AD3AAF}" presName="spacer" presStyleCnt="0"/>
      <dgm:spPr/>
    </dgm:pt>
    <dgm:pt modelId="{AFDF49E3-63B4-4059-8DC0-0F967C38B584}" type="pres">
      <dgm:prSet presAssocID="{C4C0762C-7FD4-4875-8BD3-69B3CE835B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DA2611-0498-4BB8-902C-7AC645CC7AF2}" type="pres">
      <dgm:prSet presAssocID="{F8880709-CB6A-470D-9109-9F6A98513A7A}" presName="spacer" presStyleCnt="0"/>
      <dgm:spPr/>
    </dgm:pt>
    <dgm:pt modelId="{F4D60C4E-5E3A-4052-9209-57D30CFC4981}" type="pres">
      <dgm:prSet presAssocID="{670C7374-4A32-4B73-8D4F-6EF44390EA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6C2D3A-EACD-4790-9D03-47141971B9D9}" srcId="{626C6B4A-CEED-46C6-87F9-4C66A1D36409}" destId="{6FD2D959-FA29-4B5C-A403-59AC3B5D738D}" srcOrd="1" destOrd="0" parTransId="{D1B1E11A-7A62-4ADB-AF0B-BCE2E906A29A}" sibTransId="{2334FBCC-A948-4E9B-9D6B-B179E4AD3AAF}"/>
    <dgm:cxn modelId="{1EEDFA49-0E8E-4776-B85B-93D2FBF1F8B0}" type="presOf" srcId="{AB091827-4DA7-450A-AE04-E99343C0ABC4}" destId="{D2453BD4-367B-4E24-9794-1E6ED9BE3E44}" srcOrd="0" destOrd="0" presId="urn:microsoft.com/office/officeart/2005/8/layout/vList2"/>
    <dgm:cxn modelId="{83D8A84A-8D0C-4DAD-A07B-2A1F7F6EBA5C}" type="presOf" srcId="{626C6B4A-CEED-46C6-87F9-4C66A1D36409}" destId="{0C576C14-3957-462D-8E16-0E808BB5AA3C}" srcOrd="0" destOrd="0" presId="urn:microsoft.com/office/officeart/2005/8/layout/vList2"/>
    <dgm:cxn modelId="{3A848D6C-9EAA-4000-A3D1-5F3E5296AE4C}" type="presOf" srcId="{C4C0762C-7FD4-4875-8BD3-69B3CE835B6D}" destId="{AFDF49E3-63B4-4059-8DC0-0F967C38B584}" srcOrd="0" destOrd="0" presId="urn:microsoft.com/office/officeart/2005/8/layout/vList2"/>
    <dgm:cxn modelId="{570F2197-7A3F-41CA-9CEA-DA182BA4701F}" type="presOf" srcId="{6FD2D959-FA29-4B5C-A403-59AC3B5D738D}" destId="{4B19F577-5D8B-4A4F-AB1E-09EABDDCCE88}" srcOrd="0" destOrd="0" presId="urn:microsoft.com/office/officeart/2005/8/layout/vList2"/>
    <dgm:cxn modelId="{DAF43B9D-DEC5-4302-B4C2-04C98F19A546}" srcId="{626C6B4A-CEED-46C6-87F9-4C66A1D36409}" destId="{C4C0762C-7FD4-4875-8BD3-69B3CE835B6D}" srcOrd="2" destOrd="0" parTransId="{A7F297B7-A53C-432F-AA92-166E4AA9CBCC}" sibTransId="{F8880709-CB6A-470D-9109-9F6A98513A7A}"/>
    <dgm:cxn modelId="{6E08C4A1-F70B-486B-A758-AE9A7C5ED05B}" srcId="{626C6B4A-CEED-46C6-87F9-4C66A1D36409}" destId="{670C7374-4A32-4B73-8D4F-6EF44390EA09}" srcOrd="3" destOrd="0" parTransId="{56876EE2-D64B-46B1-ACAE-81BEDB5808B2}" sibTransId="{03F37C0A-72D8-49BC-812F-07635A169014}"/>
    <dgm:cxn modelId="{9B5F1DAE-0CB1-4434-94BD-A9A3F9187FD5}" srcId="{626C6B4A-CEED-46C6-87F9-4C66A1D36409}" destId="{AB091827-4DA7-450A-AE04-E99343C0ABC4}" srcOrd="0" destOrd="0" parTransId="{B4056653-177A-412B-A84D-3C6AEF21A523}" sibTransId="{8B17AD35-0B33-45A6-9724-D5C44A56FF9D}"/>
    <dgm:cxn modelId="{AAE074E0-4149-43D2-95E8-B6F60A3D468A}" type="presOf" srcId="{670C7374-4A32-4B73-8D4F-6EF44390EA09}" destId="{F4D60C4E-5E3A-4052-9209-57D30CFC4981}" srcOrd="0" destOrd="0" presId="urn:microsoft.com/office/officeart/2005/8/layout/vList2"/>
    <dgm:cxn modelId="{9483C29B-F967-4E74-830F-A015254E7C81}" type="presParOf" srcId="{0C576C14-3957-462D-8E16-0E808BB5AA3C}" destId="{D2453BD4-367B-4E24-9794-1E6ED9BE3E44}" srcOrd="0" destOrd="0" presId="urn:microsoft.com/office/officeart/2005/8/layout/vList2"/>
    <dgm:cxn modelId="{AD71C898-BDE8-4463-AA70-98327AB48881}" type="presParOf" srcId="{0C576C14-3957-462D-8E16-0E808BB5AA3C}" destId="{FB80D6DE-2A00-4790-B7D1-D9D61010944E}" srcOrd="1" destOrd="0" presId="urn:microsoft.com/office/officeart/2005/8/layout/vList2"/>
    <dgm:cxn modelId="{9779C8FF-4DE7-4EF1-8727-1267F391CA3C}" type="presParOf" srcId="{0C576C14-3957-462D-8E16-0E808BB5AA3C}" destId="{4B19F577-5D8B-4A4F-AB1E-09EABDDCCE88}" srcOrd="2" destOrd="0" presId="urn:microsoft.com/office/officeart/2005/8/layout/vList2"/>
    <dgm:cxn modelId="{8707447C-FF5A-40D7-923B-DD3B89310BA8}" type="presParOf" srcId="{0C576C14-3957-462D-8E16-0E808BB5AA3C}" destId="{2A81C089-7D74-426B-8159-41F3F46367A6}" srcOrd="3" destOrd="0" presId="urn:microsoft.com/office/officeart/2005/8/layout/vList2"/>
    <dgm:cxn modelId="{F97990DC-E81A-401E-BCDB-794488A6559C}" type="presParOf" srcId="{0C576C14-3957-462D-8E16-0E808BB5AA3C}" destId="{AFDF49E3-63B4-4059-8DC0-0F967C38B584}" srcOrd="4" destOrd="0" presId="urn:microsoft.com/office/officeart/2005/8/layout/vList2"/>
    <dgm:cxn modelId="{4C58AB41-3227-471C-954B-1572A4CE12FE}" type="presParOf" srcId="{0C576C14-3957-462D-8E16-0E808BB5AA3C}" destId="{85DA2611-0498-4BB8-902C-7AC645CC7AF2}" srcOrd="5" destOrd="0" presId="urn:microsoft.com/office/officeart/2005/8/layout/vList2"/>
    <dgm:cxn modelId="{C9895311-ECAF-4B1D-B2E5-B4D7BB961514}" type="presParOf" srcId="{0C576C14-3957-462D-8E16-0E808BB5AA3C}" destId="{F4D60C4E-5E3A-4052-9209-57D30CFC498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921C2E-035D-4017-8202-9F955DFF295B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654741-7D21-44D2-9778-254C94AD2D15}">
      <dgm:prSet/>
      <dgm:spPr/>
      <dgm:t>
        <a:bodyPr/>
        <a:lstStyle/>
        <a:p>
          <a:r>
            <a:rPr lang="en-US"/>
            <a:t>Perfil A: atividades com apoio visual e oral.</a:t>
          </a:r>
        </a:p>
      </dgm:t>
    </dgm:pt>
    <dgm:pt modelId="{E2E299E8-1B5B-4996-A275-E3D231A56B5A}" type="parTrans" cxnId="{4EC7A3C0-C87B-489E-A3A9-5CBEFA965FDE}">
      <dgm:prSet/>
      <dgm:spPr/>
      <dgm:t>
        <a:bodyPr/>
        <a:lstStyle/>
        <a:p>
          <a:endParaRPr lang="en-US"/>
        </a:p>
      </dgm:t>
    </dgm:pt>
    <dgm:pt modelId="{D26ED53D-E049-43F0-858C-27DB4F12F718}" type="sibTrans" cxnId="{4EC7A3C0-C87B-489E-A3A9-5CBEFA965FDE}">
      <dgm:prSet/>
      <dgm:spPr/>
      <dgm:t>
        <a:bodyPr/>
        <a:lstStyle/>
        <a:p>
          <a:endParaRPr lang="en-US"/>
        </a:p>
      </dgm:t>
    </dgm:pt>
    <dgm:pt modelId="{F7EFA882-225B-4E80-B9D2-8280A8A7EDCB}">
      <dgm:prSet/>
      <dgm:spPr/>
      <dgm:t>
        <a:bodyPr/>
        <a:lstStyle/>
        <a:p>
          <a:r>
            <a:rPr lang="en-US"/>
            <a:t>Perfil B: desafios extras, criação de exemplos próprios.</a:t>
          </a:r>
        </a:p>
      </dgm:t>
    </dgm:pt>
    <dgm:pt modelId="{F78438C4-F1E3-4273-BF00-6F6747F6F7FF}" type="parTrans" cxnId="{C1E3B586-413D-4B80-9387-48ADDEA43846}">
      <dgm:prSet/>
      <dgm:spPr/>
      <dgm:t>
        <a:bodyPr/>
        <a:lstStyle/>
        <a:p>
          <a:endParaRPr lang="en-US"/>
        </a:p>
      </dgm:t>
    </dgm:pt>
    <dgm:pt modelId="{6B3A89E3-5C23-46ED-95D3-05D914773C05}" type="sibTrans" cxnId="{C1E3B586-413D-4B80-9387-48ADDEA43846}">
      <dgm:prSet/>
      <dgm:spPr/>
      <dgm:t>
        <a:bodyPr/>
        <a:lstStyle/>
        <a:p>
          <a:endParaRPr lang="en-US"/>
        </a:p>
      </dgm:t>
    </dgm:pt>
    <dgm:pt modelId="{C7BF4420-5415-4699-B4D9-AA06B29DC4E5}">
      <dgm:prSet/>
      <dgm:spPr/>
      <dgm:t>
        <a:bodyPr/>
        <a:lstStyle/>
        <a:p>
          <a:r>
            <a:rPr lang="en-US"/>
            <a:t>Todos participam das mesmas atividades, com diferentes níveis de entrada.</a:t>
          </a:r>
        </a:p>
      </dgm:t>
    </dgm:pt>
    <dgm:pt modelId="{542ACCD5-1CED-48CF-B361-B672D1A98824}" type="parTrans" cxnId="{3C51CF9D-3BA1-4D34-8BD5-6B7B5A91B17F}">
      <dgm:prSet/>
      <dgm:spPr/>
      <dgm:t>
        <a:bodyPr/>
        <a:lstStyle/>
        <a:p>
          <a:endParaRPr lang="en-US"/>
        </a:p>
      </dgm:t>
    </dgm:pt>
    <dgm:pt modelId="{0ED8D0BB-CA78-4B98-9FB4-42315BD388B4}" type="sibTrans" cxnId="{3C51CF9D-3BA1-4D34-8BD5-6B7B5A91B17F}">
      <dgm:prSet/>
      <dgm:spPr/>
      <dgm:t>
        <a:bodyPr/>
        <a:lstStyle/>
        <a:p>
          <a:endParaRPr lang="en-US"/>
        </a:p>
      </dgm:t>
    </dgm:pt>
    <dgm:pt modelId="{8D0FA166-6F17-47AB-BEBC-7849D79F9CCB}" type="pres">
      <dgm:prSet presAssocID="{AB921C2E-035D-4017-8202-9F955DFF295B}" presName="diagram" presStyleCnt="0">
        <dgm:presLayoutVars>
          <dgm:dir/>
          <dgm:resizeHandles val="exact"/>
        </dgm:presLayoutVars>
      </dgm:prSet>
      <dgm:spPr/>
    </dgm:pt>
    <dgm:pt modelId="{AED36BC7-CC02-4438-ABC6-3366F4E974E3}" type="pres">
      <dgm:prSet presAssocID="{F8654741-7D21-44D2-9778-254C94AD2D15}" presName="node" presStyleLbl="node1" presStyleIdx="0" presStyleCnt="3">
        <dgm:presLayoutVars>
          <dgm:bulletEnabled val="1"/>
        </dgm:presLayoutVars>
      </dgm:prSet>
      <dgm:spPr/>
    </dgm:pt>
    <dgm:pt modelId="{1F8FAFE9-AD78-4749-9001-1D02CEE1F8A9}" type="pres">
      <dgm:prSet presAssocID="{D26ED53D-E049-43F0-858C-27DB4F12F718}" presName="sibTrans" presStyleCnt="0"/>
      <dgm:spPr/>
    </dgm:pt>
    <dgm:pt modelId="{72A57C5A-3CA9-45CF-BC15-8D88A24CF137}" type="pres">
      <dgm:prSet presAssocID="{F7EFA882-225B-4E80-B9D2-8280A8A7EDCB}" presName="node" presStyleLbl="node1" presStyleIdx="1" presStyleCnt="3">
        <dgm:presLayoutVars>
          <dgm:bulletEnabled val="1"/>
        </dgm:presLayoutVars>
      </dgm:prSet>
      <dgm:spPr/>
    </dgm:pt>
    <dgm:pt modelId="{9DB56630-4362-44AB-B19F-5F868A67E947}" type="pres">
      <dgm:prSet presAssocID="{6B3A89E3-5C23-46ED-95D3-05D914773C05}" presName="sibTrans" presStyleCnt="0"/>
      <dgm:spPr/>
    </dgm:pt>
    <dgm:pt modelId="{A303574A-1744-4D49-9332-CFDCAAC8614E}" type="pres">
      <dgm:prSet presAssocID="{C7BF4420-5415-4699-B4D9-AA06B29DC4E5}" presName="node" presStyleLbl="node1" presStyleIdx="2" presStyleCnt="3">
        <dgm:presLayoutVars>
          <dgm:bulletEnabled val="1"/>
        </dgm:presLayoutVars>
      </dgm:prSet>
      <dgm:spPr/>
    </dgm:pt>
  </dgm:ptLst>
  <dgm:cxnLst>
    <dgm:cxn modelId="{63EF3824-4E4E-4638-AF0F-D0E52FD86032}" type="presOf" srcId="{AB921C2E-035D-4017-8202-9F955DFF295B}" destId="{8D0FA166-6F17-47AB-BEBC-7849D79F9CCB}" srcOrd="0" destOrd="0" presId="urn:microsoft.com/office/officeart/2005/8/layout/default"/>
    <dgm:cxn modelId="{813F7176-7D93-43C3-98BC-55AAAF4DEA15}" type="presOf" srcId="{F7EFA882-225B-4E80-B9D2-8280A8A7EDCB}" destId="{72A57C5A-3CA9-45CF-BC15-8D88A24CF137}" srcOrd="0" destOrd="0" presId="urn:microsoft.com/office/officeart/2005/8/layout/default"/>
    <dgm:cxn modelId="{C1E3B586-413D-4B80-9387-48ADDEA43846}" srcId="{AB921C2E-035D-4017-8202-9F955DFF295B}" destId="{F7EFA882-225B-4E80-B9D2-8280A8A7EDCB}" srcOrd="1" destOrd="0" parTransId="{F78438C4-F1E3-4273-BF00-6F6747F6F7FF}" sibTransId="{6B3A89E3-5C23-46ED-95D3-05D914773C05}"/>
    <dgm:cxn modelId="{3C51CF9D-3BA1-4D34-8BD5-6B7B5A91B17F}" srcId="{AB921C2E-035D-4017-8202-9F955DFF295B}" destId="{C7BF4420-5415-4699-B4D9-AA06B29DC4E5}" srcOrd="2" destOrd="0" parTransId="{542ACCD5-1CED-48CF-B361-B672D1A98824}" sibTransId="{0ED8D0BB-CA78-4B98-9FB4-42315BD388B4}"/>
    <dgm:cxn modelId="{4EC7A3C0-C87B-489E-A3A9-5CBEFA965FDE}" srcId="{AB921C2E-035D-4017-8202-9F955DFF295B}" destId="{F8654741-7D21-44D2-9778-254C94AD2D15}" srcOrd="0" destOrd="0" parTransId="{E2E299E8-1B5B-4996-A275-E3D231A56B5A}" sibTransId="{D26ED53D-E049-43F0-858C-27DB4F12F718}"/>
    <dgm:cxn modelId="{653CF8C4-9322-45B1-9EC7-224155465C60}" type="presOf" srcId="{F8654741-7D21-44D2-9778-254C94AD2D15}" destId="{AED36BC7-CC02-4438-ABC6-3366F4E974E3}" srcOrd="0" destOrd="0" presId="urn:microsoft.com/office/officeart/2005/8/layout/default"/>
    <dgm:cxn modelId="{866771F1-8FA2-4A4F-9277-FA87F49659D6}" type="presOf" srcId="{C7BF4420-5415-4699-B4D9-AA06B29DC4E5}" destId="{A303574A-1744-4D49-9332-CFDCAAC8614E}" srcOrd="0" destOrd="0" presId="urn:microsoft.com/office/officeart/2005/8/layout/default"/>
    <dgm:cxn modelId="{2AC7B557-7BBA-4D32-BC8E-38C00C23BA7A}" type="presParOf" srcId="{8D0FA166-6F17-47AB-BEBC-7849D79F9CCB}" destId="{AED36BC7-CC02-4438-ABC6-3366F4E974E3}" srcOrd="0" destOrd="0" presId="urn:microsoft.com/office/officeart/2005/8/layout/default"/>
    <dgm:cxn modelId="{AC8D012B-2776-4F8B-A4DC-C3285AA8707D}" type="presParOf" srcId="{8D0FA166-6F17-47AB-BEBC-7849D79F9CCB}" destId="{1F8FAFE9-AD78-4749-9001-1D02CEE1F8A9}" srcOrd="1" destOrd="0" presId="urn:microsoft.com/office/officeart/2005/8/layout/default"/>
    <dgm:cxn modelId="{C7C92002-2028-4B6E-AC7A-8ADEC64BC0A2}" type="presParOf" srcId="{8D0FA166-6F17-47AB-BEBC-7849D79F9CCB}" destId="{72A57C5A-3CA9-45CF-BC15-8D88A24CF137}" srcOrd="2" destOrd="0" presId="urn:microsoft.com/office/officeart/2005/8/layout/default"/>
    <dgm:cxn modelId="{BF727187-5106-4546-82FC-014D1B205181}" type="presParOf" srcId="{8D0FA166-6F17-47AB-BEBC-7849D79F9CCB}" destId="{9DB56630-4362-44AB-B19F-5F868A67E947}" srcOrd="3" destOrd="0" presId="urn:microsoft.com/office/officeart/2005/8/layout/default"/>
    <dgm:cxn modelId="{4C66CAA3-FFEC-497D-BBC9-8338BB361655}" type="presParOf" srcId="{8D0FA166-6F17-47AB-BEBC-7849D79F9CCB}" destId="{A303574A-1744-4D49-9332-CFDCAAC8614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453BD4-367B-4E24-9794-1E6ED9BE3E44}">
      <dsp:nvSpPr>
        <dsp:cNvPr id="0" name=""/>
        <dsp:cNvSpPr/>
      </dsp:nvSpPr>
      <dsp:spPr>
        <a:xfrm>
          <a:off x="0" y="465161"/>
          <a:ext cx="5000124" cy="10725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Conceito de fração.</a:t>
          </a:r>
        </a:p>
      </dsp:txBody>
      <dsp:txXfrm>
        <a:off x="52359" y="517520"/>
        <a:ext cx="4895406" cy="967861"/>
      </dsp:txXfrm>
    </dsp:sp>
    <dsp:sp modelId="{4B19F577-5D8B-4A4F-AB1E-09EABDDCCE88}">
      <dsp:nvSpPr>
        <dsp:cNvPr id="0" name=""/>
        <dsp:cNvSpPr/>
      </dsp:nvSpPr>
      <dsp:spPr>
        <a:xfrm>
          <a:off x="0" y="1615500"/>
          <a:ext cx="5000124" cy="1072579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Numerador e denominador.</a:t>
          </a:r>
        </a:p>
      </dsp:txBody>
      <dsp:txXfrm>
        <a:off x="52359" y="1667859"/>
        <a:ext cx="4895406" cy="967861"/>
      </dsp:txXfrm>
    </dsp:sp>
    <dsp:sp modelId="{AFDF49E3-63B4-4059-8DC0-0F967C38B584}">
      <dsp:nvSpPr>
        <dsp:cNvPr id="0" name=""/>
        <dsp:cNvSpPr/>
      </dsp:nvSpPr>
      <dsp:spPr>
        <a:xfrm>
          <a:off x="0" y="2765839"/>
          <a:ext cx="5000124" cy="1072579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Frações próprias.</a:t>
          </a:r>
        </a:p>
      </dsp:txBody>
      <dsp:txXfrm>
        <a:off x="52359" y="2818198"/>
        <a:ext cx="4895406" cy="967861"/>
      </dsp:txXfrm>
    </dsp:sp>
    <dsp:sp modelId="{F4D60C4E-5E3A-4052-9209-57D30CFC4981}">
      <dsp:nvSpPr>
        <dsp:cNvPr id="0" name=""/>
        <dsp:cNvSpPr/>
      </dsp:nvSpPr>
      <dsp:spPr>
        <a:xfrm>
          <a:off x="0" y="3916179"/>
          <a:ext cx="5000124" cy="10725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Representações visuais: círculos, retângulos e barras fracionadas.</a:t>
          </a:r>
        </a:p>
      </dsp:txBody>
      <dsp:txXfrm>
        <a:off x="52359" y="3968538"/>
        <a:ext cx="4895406" cy="967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36BC7-CC02-4438-ABC6-3366F4E974E3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Perfil A: atividades com apoio visual e oral.</a:t>
          </a:r>
        </a:p>
      </dsp:txBody>
      <dsp:txXfrm>
        <a:off x="429570" y="472"/>
        <a:ext cx="3346456" cy="2007873"/>
      </dsp:txXfrm>
    </dsp:sp>
    <dsp:sp modelId="{72A57C5A-3CA9-45CF-BC15-8D88A24CF137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Perfil B: desafios extras, criação de exemplos próprios.</a:t>
          </a:r>
        </a:p>
      </dsp:txBody>
      <dsp:txXfrm>
        <a:off x="4110672" y="472"/>
        <a:ext cx="3346456" cy="2007873"/>
      </dsp:txXfrm>
    </dsp:sp>
    <dsp:sp modelId="{A303574A-1744-4D49-9332-CFDCAAC8614E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Todos participam das mesmas atividades, com diferentes níveis de entrada.</a:t>
          </a:r>
        </a:p>
      </dsp:txBody>
      <dsp:txXfrm>
        <a:off x="2270121" y="2342991"/>
        <a:ext cx="3346456" cy="2007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31" y="891652"/>
            <a:ext cx="3309016" cy="3030724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Frações e Representações Visuais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9343" y="4745317"/>
            <a:ext cx="3094704" cy="1375145"/>
          </a:xfrm>
        </p:spPr>
        <p:txBody>
          <a:bodyPr>
            <a:normAutofit/>
          </a:bodyPr>
          <a:lstStyle/>
          <a:p>
            <a:pPr algn="r"/>
            <a:r>
              <a:rPr lang="pt-BR">
                <a:solidFill>
                  <a:srgbClr val="FFFFFF"/>
                </a:solidFill>
              </a:rPr>
              <a:t>Matemática – 6º Ano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AFC2F4E-B834-398E-BB1D-F25EBB34C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03655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pt-BR" sz="3500"/>
              <a:t>Contexto</a:t>
            </a:r>
          </a:p>
        </p:txBody>
      </p:sp>
      <p:pic>
        <p:nvPicPr>
          <p:cNvPr id="15" name="Picture 4" descr="Legumes e frutas variadas">
            <a:extLst>
              <a:ext uri="{FF2B5EF4-FFF2-40B4-BE49-F238E27FC236}">
                <a16:creationId xmlns:a16="http://schemas.microsoft.com/office/drawing/2014/main" id="{0CB49AE2-8649-D34B-B20D-9868B0F9E3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91" r="21608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endParaRPr lang="pt-BR" sz="1700"/>
          </a:p>
          <a:p>
            <a:pPr>
              <a:defRPr sz="2000"/>
            </a:pPr>
            <a:r>
              <a:rPr lang="pt-BR" sz="1700"/>
              <a:t>As frações fazem parte do cotidiano: dividir alimentos, tempo, quantidades.</a:t>
            </a:r>
            <a:br>
              <a:rPr lang="pt-BR" sz="1700"/>
            </a:br>
            <a:r>
              <a:rPr lang="pt-BR" sz="1700"/>
              <a:t>Dificuldade comum: conteúdo abstrato.</a:t>
            </a:r>
            <a:br>
              <a:rPr lang="pt-BR" sz="1700"/>
            </a:br>
            <a:r>
              <a:rPr lang="pt-BR" sz="1700"/>
              <a:t>Solução: uso de representações visuais e recursos digitais.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9351F9-6A39-1DF0-017A-5C3A842A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5438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0157" y="365125"/>
            <a:ext cx="2866642" cy="1899912"/>
          </a:xfrm>
        </p:spPr>
        <p:txBody>
          <a:bodyPr>
            <a:normAutofit/>
          </a:bodyPr>
          <a:lstStyle/>
          <a:p>
            <a:r>
              <a:rPr lang="pt-BR" sz="3500" dirty="0"/>
              <a:t>Objetivos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0157" y="2434201"/>
            <a:ext cx="2866642" cy="3742762"/>
          </a:xfrm>
        </p:spPr>
        <p:txBody>
          <a:bodyPr>
            <a:normAutofit/>
          </a:bodyPr>
          <a:lstStyle/>
          <a:p>
            <a:endParaRPr lang="pt-BR" sz="1700" dirty="0"/>
          </a:p>
          <a:p>
            <a:pPr>
              <a:defRPr sz="2000"/>
            </a:pPr>
            <a:r>
              <a:rPr lang="pt-BR" sz="1700" dirty="0"/>
              <a:t>Identificar frações como partes de um todo.</a:t>
            </a:r>
          </a:p>
          <a:p>
            <a:pPr>
              <a:defRPr sz="2000"/>
            </a:pPr>
            <a:r>
              <a:rPr lang="pt-BR" sz="1700" dirty="0"/>
              <a:t>Reconhecer numerador e denominador.</a:t>
            </a:r>
          </a:p>
          <a:p>
            <a:pPr>
              <a:defRPr sz="2000"/>
            </a:pPr>
            <a:r>
              <a:rPr lang="pt-BR" sz="1700" dirty="0"/>
              <a:t>Representar frações com figuras geométricas.</a:t>
            </a:r>
          </a:p>
          <a:p>
            <a:pPr>
              <a:defRPr sz="2000"/>
            </a:pPr>
            <a:r>
              <a:rPr lang="pt-BR" sz="1700" dirty="0"/>
              <a:t>Relacionar fração à sua representação visual.</a:t>
            </a:r>
          </a:p>
          <a:p>
            <a:pPr>
              <a:defRPr sz="2000"/>
            </a:pPr>
            <a:r>
              <a:rPr lang="pt-BR" sz="1700" dirty="0"/>
              <a:t>Resolver situações-problema simples.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as geométricas em uma tela de fundo de madeira">
            <a:extLst>
              <a:ext uri="{FF2B5EF4-FFF2-40B4-BE49-F238E27FC236}">
                <a16:creationId xmlns:a16="http://schemas.microsoft.com/office/drawing/2014/main" id="{66D40E16-8192-68C4-7F8B-E44816CE76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3" r="21329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pt-BR" sz="3500"/>
              <a:t>Habilidades e Competências (BNCC)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endParaRPr lang="pt-BR" sz="1700"/>
          </a:p>
          <a:p>
            <a:pPr>
              <a:defRPr sz="2000"/>
            </a:pPr>
            <a:r>
              <a:rPr lang="pt-BR" sz="1700"/>
              <a:t>EF06MA07: Compreender, comparar e representar frações.</a:t>
            </a:r>
          </a:p>
          <a:p>
            <a:pPr>
              <a:defRPr sz="2000"/>
            </a:pPr>
            <a:r>
              <a:rPr lang="pt-BR" sz="1700"/>
              <a:t>Desenvolvimento do raciocínio lógico.</a:t>
            </a:r>
          </a:p>
          <a:p>
            <a:pPr>
              <a:defRPr sz="2000"/>
            </a:pPr>
            <a:r>
              <a:rPr lang="pt-BR" sz="1700"/>
              <a:t>Leitura e interpretação de representações visuais.</a:t>
            </a:r>
          </a:p>
          <a:p>
            <a:pPr>
              <a:defRPr sz="2000"/>
            </a:pPr>
            <a:r>
              <a:rPr lang="pt-BR" sz="1700"/>
              <a:t>Comunicação matemática oral.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000">
                <a:solidFill>
                  <a:srgbClr val="FFFFFF"/>
                </a:solidFill>
              </a:rPr>
              <a:t>Conteúdo Programático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2E2491-2350-C084-E11C-BC1B4548A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10893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Ativação de Conhecimentos Prévios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 err="1"/>
              <a:t>Pergunta</a:t>
            </a:r>
            <a:r>
              <a:rPr dirty="0"/>
              <a:t> </a:t>
            </a:r>
            <a:r>
              <a:rPr dirty="0" err="1"/>
              <a:t>disparadora</a:t>
            </a:r>
            <a:r>
              <a:rPr dirty="0"/>
              <a:t>: ‘Como </a:t>
            </a:r>
            <a:r>
              <a:rPr dirty="0" err="1"/>
              <a:t>você</a:t>
            </a:r>
            <a:r>
              <a:rPr dirty="0"/>
              <a:t> </a:t>
            </a:r>
            <a:r>
              <a:rPr dirty="0" err="1"/>
              <a:t>dividiria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pizza entre amigos?’</a:t>
            </a:r>
            <a:br>
              <a:rPr dirty="0"/>
            </a:br>
            <a:r>
              <a:rPr dirty="0"/>
              <a:t>Valorize as </a:t>
            </a:r>
            <a:r>
              <a:rPr dirty="0" err="1"/>
              <a:t>respostas</a:t>
            </a:r>
            <a:r>
              <a:rPr dirty="0"/>
              <a:t> dos </a:t>
            </a:r>
            <a:r>
              <a:rPr dirty="0" err="1"/>
              <a:t>alunos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1800" b="1"/>
            </a:pPr>
            <a:r>
              <a:t>Exemplo Visual: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562"/>
            <a:ext cx="1371600" cy="11890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4728595"/>
            <a:ext cx="914400" cy="457200"/>
          </a:xfrm>
          <a:prstGeom prst="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926080" y="4728595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23360" y="4730295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Explanação Dialogada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Apresente o conceito de fração no quadro.</a:t>
            </a:r>
            <a:br/>
            <a:r>
              <a:t>Identifique as partes do todo.</a:t>
            </a:r>
            <a:br/>
            <a:r>
              <a:t>Mostre exemplos visuais desenhados ou projetados.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Prática Guiada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Distribua folhas com figuras fracionadas.</a:t>
            </a:r>
            <a:br/>
            <a:r>
              <a:t>Oriente a pintura das partes indicadas.</a:t>
            </a:r>
            <a:br/>
            <a:r>
              <a:t>Faça a correção coletiva com explicações orais.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defRPr sz="1800" b="1"/>
            </a:pPr>
            <a:r>
              <a:rPr dirty="0" err="1"/>
              <a:t>Exemplo</a:t>
            </a:r>
            <a:r>
              <a:rPr dirty="0"/>
              <a:t> Visual: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562"/>
            <a:ext cx="1371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74520" y="4754561"/>
            <a:ext cx="914400" cy="457200"/>
          </a:xfrm>
          <a:prstGeom prst="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948940" y="4754562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34246" y="4741180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 Digital de Apoio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Utilize simulador de frações (ex.: GeoGebra).</a:t>
            </a:r>
            <a:br/>
            <a:r>
              <a:t>Mostre diferentes representações para a mesma fração.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1800" b="1"/>
            </a:pPr>
            <a:r>
              <a:t>Exemplo Visual: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562"/>
            <a:ext cx="1371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4721905"/>
            <a:ext cx="914400" cy="457200"/>
          </a:xfrm>
          <a:prstGeom prst="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4719410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23360" y="4700134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pt-BR" sz="3500"/>
              <a:t>Sistematização e Fechamento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pt-BR" sz="1700"/>
          </a:p>
          <a:p>
            <a:pPr>
              <a:defRPr sz="2000"/>
            </a:pPr>
            <a:r>
              <a:rPr lang="pt-BR" sz="1700"/>
              <a:t>Revise os conceitos principais.</a:t>
            </a:r>
            <a:br>
              <a:rPr lang="pt-BR" sz="1700"/>
            </a:br>
            <a:r>
              <a:rPr lang="pt-BR" sz="1700"/>
              <a:t>Oriente o registro no caderno.</a:t>
            </a:r>
          </a:p>
        </p:txBody>
      </p:sp>
      <p:pic>
        <p:nvPicPr>
          <p:cNvPr id="5" name="Picture 4" descr="Uma página em um planejador">
            <a:extLst>
              <a:ext uri="{FF2B5EF4-FFF2-40B4-BE49-F238E27FC236}">
                <a16:creationId xmlns:a16="http://schemas.microsoft.com/office/drawing/2014/main" id="{A60CB139-3B6F-FF37-0F77-E5ECE15290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03" r="3414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Exercícios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 lang="pt-BR"/>
          </a:p>
          <a:p>
            <a:pPr>
              <a:defRPr sz="2000"/>
            </a:pPr>
            <a:r>
              <a:rPr lang="pt-BR"/>
              <a:t>Exemplo: ‘Um retângulo foi dividido em 4 partes iguais e 2 partes foram pintadas. Qual é a fração representada?’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Prática em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Produção com papel quadriculado.</a:t>
            </a:r>
            <a:br/>
            <a:r>
              <a:t>Divisão correta do todo em partes iguais.</a:t>
            </a:r>
            <a:br/>
            <a:r>
              <a:t>Participação e explicação oral.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1800" b="1"/>
            </a:pPr>
            <a:r>
              <a:t>Exemplo Visual: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0"/>
            <a:ext cx="1371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4572000"/>
            <a:ext cx="914400" cy="457200"/>
          </a:xfrm>
          <a:prstGeom prst="rec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4572000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23360" y="4572000"/>
            <a:ext cx="914400" cy="457200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t>Avaliação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Diagnóstica e formativa.</a:t>
            </a:r>
            <a:br/>
            <a:r>
              <a:t>Critérios: compreensão do conceito, representação visual, participação.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19E3C0-F2BD-86E9-EE33-4463FBE566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054" r="1894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Adaptações Pedagógicas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13DE26-9466-E837-9FA0-06BB005612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97313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Uma fórmula de cálculo">
            <a:extLst>
              <a:ext uri="{FF2B5EF4-FFF2-40B4-BE49-F238E27FC236}">
                <a16:creationId xmlns:a16="http://schemas.microsoft.com/office/drawing/2014/main" id="{76D4375E-6888-9CB3-047A-185425DCB1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BNCC – Matemática</a:t>
            </a:r>
          </a:p>
          <a:p>
            <a:pPr>
              <a:defRPr sz="2000"/>
            </a:pPr>
            <a:r>
              <a:t>Dante, L. R. Matemática: Contexto &amp; Aplicações</a:t>
            </a:r>
          </a:p>
          <a:p>
            <a:pPr>
              <a:defRPr sz="2000"/>
            </a:pPr>
            <a:r>
              <a:t>GeoGebra – Recursos Educacionais Abertos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371</Words>
  <Application>Microsoft Office PowerPoint</Application>
  <PresentationFormat>Apresentação na tela (4:3)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Frações e Representações Visuais</vt:lpstr>
      <vt:lpstr>Contexto</vt:lpstr>
      <vt:lpstr>Objetivos de Aprendizagem</vt:lpstr>
      <vt:lpstr>Habilidades e Competências (BNCC)</vt:lpstr>
      <vt:lpstr>Conteúdo Programático</vt:lpstr>
      <vt:lpstr>Ativação de Conhecimentos Prévios</vt:lpstr>
      <vt:lpstr>Explanação Dialogada</vt:lpstr>
      <vt:lpstr>Atividade Prática Guiada</vt:lpstr>
      <vt:lpstr>Recurso Digital de Apoio</vt:lpstr>
      <vt:lpstr>Sistematização e Fechamento</vt:lpstr>
      <vt:lpstr>Exercícios</vt:lpstr>
      <vt:lpstr>Atividade Prática em Grupo</vt:lpstr>
      <vt:lpstr>Avaliação</vt:lpstr>
      <vt:lpstr>Adaptações Pedagógicas</vt:lpstr>
      <vt:lpstr>Referências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Ronaldo Sabino</cp:lastModifiedBy>
  <cp:revision>2</cp:revision>
  <dcterms:created xsi:type="dcterms:W3CDTF">2013-01-27T09:14:16Z</dcterms:created>
  <dcterms:modified xsi:type="dcterms:W3CDTF">2025-12-25T19:23:23Z</dcterms:modified>
  <cp:category/>
</cp:coreProperties>
</file>